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F.E.D.O.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Какую схему сертификации выбрать для проекта?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3383280"/>
            <a:ext cx="1371600" cy="50800"/>
          </a:xfrm>
          <a:prstGeom prst="rect">
            <a:avLst/>
          </a:prstGeom>
          <a:solidFill>
            <a:srgbClr val="96C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96C8D2"/>
                </a:solidFill>
                <a:latin typeface="Calibri"/>
              </a:rPr>
              <a:t>Локальный ИИ-ассистент на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Автор:</a:t>
            </a:r>
            <a:r>
              <a:rPr sz="2000" b="0">
                <a:solidFill>
                  <a:srgbClr val="FFFFFF"/>
                </a:solidFill>
                <a:latin typeface="Calibri"/>
              </a:rPr>
              <a:t> Федтов Мирослав (fedomirka)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Проверил:</a:t>
            </a:r>
            <a:r>
              <a:rPr sz="2000" b="0">
                <a:solidFill>
                  <a:srgbClr val="FFFFFF"/>
                </a:solidFill>
                <a:latin typeface="Calibri"/>
              </a:rPr>
              <a:t> Расторгуев Д. М.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Дата:</a:t>
            </a:r>
            <a:r>
              <a:rPr sz="2000" b="0">
                <a:solidFill>
                  <a:srgbClr val="FFFFFF"/>
                </a:solidFill>
                <a:latin typeface="Calibri"/>
              </a:rPr>
              <a:t>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§1.1  Описание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F.E.D.O.</a:t>
            </a:r>
            <a:r>
              <a:rPr sz="2000" b="0">
                <a:solidFill>
                  <a:srgbClr val="FFFFFF"/>
                </a:solidFill>
                <a:latin typeface="Calibri"/>
              </a:rPr>
              <a:t> — локальный ИИ-ассистент на Python (окно + консоль, Windows и Linux)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Нейросеть работает </a:t>
            </a:r>
            <a:r>
              <a:rPr sz="2000" b="1">
                <a:solidFill>
                  <a:srgbClr val="FFFFFF"/>
                </a:solidFill>
                <a:latin typeface="Calibri"/>
              </a:rPr>
              <a:t>локально на ПК</a:t>
            </a:r>
            <a:r>
              <a:rPr sz="2000" b="0">
                <a:solidFill>
                  <a:srgbClr val="FFFFFF"/>
                </a:solidFill>
                <a:latin typeface="Calibri"/>
              </a:rPr>
              <a:t> через LM Studio, а не в облаке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Диалог, код, состояние ПК (CPU / RAM / GPU), голос RU/EN, память, чаты с папками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Для кого:</a:t>
            </a:r>
            <a:r>
              <a:rPr sz="2000" b="0">
                <a:solidFill>
                  <a:srgbClr val="FFFFFF"/>
                </a:solidFill>
                <a:latin typeface="Calibri"/>
              </a:rPr>
              <a:t> частники и учебные заведения → компании → госсектор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§1.2  Функции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Все данные (профиль, чаты, память) — </a:t>
            </a:r>
            <a:r>
              <a:rPr sz="2000" b="1">
                <a:solidFill>
                  <a:srgbClr val="FFFFFF"/>
                </a:solidFill>
                <a:latin typeface="Calibri"/>
              </a:rPr>
              <a:t>только локально</a:t>
            </a:r>
            <a:r>
              <a:rPr sz="2000" b="0">
                <a:solidFill>
                  <a:srgbClr val="FFFFFF"/>
                </a:solidFill>
                <a:latin typeface="Calibri"/>
              </a:rPr>
              <a:t> в папке на ПК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Запросы к нейросети — только на </a:t>
            </a:r>
            <a:r>
              <a:rPr sz="2000" b="1">
                <a:solidFill>
                  <a:srgbClr val="FFFFFF"/>
                </a:solidFill>
                <a:latin typeface="Calibri"/>
              </a:rPr>
              <a:t>localhost</a:t>
            </a:r>
            <a:r>
              <a:rPr sz="2000" b="0">
                <a:solidFill>
                  <a:srgbClr val="FFFFFF"/>
                </a:solidFill>
                <a:latin typeface="Calibri"/>
              </a:rPr>
              <a:t>, в интернет ничего не уходит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Журнал событий + архив каждого чата в текстовый файл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Агрессивный режим — только за подтверждением </a:t>
            </a:r>
            <a:r>
              <a:rPr sz="2000" b="1">
                <a:solidFill>
                  <a:srgbClr val="FFFFFF"/>
                </a:solidFill>
                <a:latin typeface="Calibri"/>
              </a:rPr>
              <a:t>18+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В developer-терминале блокируются опасные команды (rm -rf, reboot и др.)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Шифрования пока нет — в планах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§2  Целевые рынки и заказчики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88136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126480"/>
              </a:tblGrid>
              <a:tr h="9144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Рынок и заказчик</a:t>
                      </a:r>
                    </a:p>
                  </a:txBody>
                  <a:tcPr anchor="ctr" marL="182880" marR="182880" marT="73152" marB="73152">
                    <a:solidFill>
                      <a:srgbClr val="0E3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Требования к сертификации</a:t>
                      </a:r>
                    </a:p>
                  </a:txBody>
                  <a:tcPr anchor="ctr" marL="182880" marR="182880" marT="73152" marB="73152">
                    <a:solidFill>
                      <a:srgbClr val="0E3A4A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Частники и образование РФ (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сейчас</a:t>
                      </a:r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Не требуется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Компании (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рост</a:t>
                      </a:r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152-ФЗ</a:t>
                      </a:r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 обязателен, желателен ISO 27001 у разработчика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Госсектор (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перспектива</a:t>
                      </a:r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Обязательна сертификация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ФСТЭК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</a:tr>
              <a:tr h="9144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Европа и мир (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дальний план</a:t>
                      </a:r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Пока не планируется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§3.1  Анализ схем — Россия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Частники / образование: обязательной нет — достаточно </a:t>
            </a:r>
            <a:r>
              <a:rPr sz="2000" b="1">
                <a:solidFill>
                  <a:srgbClr val="FFFFFF"/>
                </a:solidFill>
                <a:latin typeface="Calibri"/>
              </a:rPr>
              <a:t>декларации соответствия (152-ФЗ)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Компании: </a:t>
            </a:r>
            <a:r>
              <a:rPr sz="2000" b="1">
                <a:solidFill>
                  <a:srgbClr val="FFFFFF"/>
                </a:solidFill>
                <a:latin typeface="Calibri"/>
              </a:rPr>
              <a:t>152-ФЗ обязателен</a:t>
            </a:r>
            <a:r>
              <a:rPr sz="2000" b="0">
                <a:solidFill>
                  <a:srgbClr val="FFFFFF"/>
                </a:solidFill>
                <a:latin typeface="Calibri"/>
              </a:rPr>
              <a:t> — программа хранит персональные данные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Госсектор: обязательна </a:t>
            </a:r>
            <a:r>
              <a:rPr sz="2000" b="1">
                <a:solidFill>
                  <a:srgbClr val="FFFFFF"/>
                </a:solidFill>
                <a:latin typeface="Calibri"/>
              </a:rPr>
              <a:t>ФСТЭК (Приказ №21)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Ориентиры из справочника: PostgreSQL Pro — </a:t>
            </a:r>
            <a:r>
              <a:rPr sz="2000" b="1">
                <a:solidFill>
                  <a:srgbClr val="FFFFFF"/>
                </a:solidFill>
                <a:latin typeface="Calibri"/>
              </a:rPr>
              <a:t>2К</a:t>
            </a:r>
            <a:r>
              <a:rPr sz="2000" b="0">
                <a:solidFill>
                  <a:srgbClr val="FFFFFF"/>
                </a:solidFill>
                <a:latin typeface="Calibri"/>
              </a:rPr>
              <a:t>, Kaspersky Gateway — </a:t>
            </a:r>
            <a:r>
              <a:rPr sz="2000" b="1">
                <a:solidFill>
                  <a:srgbClr val="FFFFFF"/>
                </a:solidFill>
                <a:latin typeface="Calibri"/>
              </a:rPr>
              <a:t>2К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Наш профиль проще: ПО для обработки персональных данных (≈ 1С–2С)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§3.2  Анализ схем — желательные и международные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ISO 27001</a:t>
            </a:r>
            <a:r>
              <a:rPr sz="2000" b="0">
                <a:solidFill>
                  <a:srgbClr val="FFFFFF"/>
                </a:solidFill>
                <a:latin typeface="Calibri"/>
              </a:rPr>
              <a:t> у разработчика — плюс для B2B (как у Azure: ISO 27001 / 27017 / 27018)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ФСБ</a:t>
            </a:r>
            <a:r>
              <a:rPr sz="2000" b="0">
                <a:solidFill>
                  <a:srgbClr val="FFFFFF"/>
                </a:solidFill>
                <a:latin typeface="Calibri"/>
              </a:rPr>
              <a:t> — только когда добавим шифрование, и только для криптомодуля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Свою крипту не пишем — берём готовую: </a:t>
            </a:r>
            <a:r>
              <a:rPr sz="2000" b="1">
                <a:solidFill>
                  <a:srgbClr val="FFFFFF"/>
                </a:solidFill>
                <a:latin typeface="Calibri"/>
              </a:rPr>
              <a:t>Крипто ПРО CSP</a:t>
            </a:r>
            <a:r>
              <a:rPr sz="2000" b="0">
                <a:solidFill>
                  <a:srgbClr val="FFFFFF"/>
                </a:solidFill>
                <a:latin typeface="Calibri"/>
              </a:rPr>
              <a:t> (ФСБ + FIPS 140-2)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Европа: </a:t>
            </a:r>
            <a:r>
              <a:rPr sz="2000" b="1">
                <a:solidFill>
                  <a:srgbClr val="FFFFFF"/>
                </a:solidFill>
                <a:latin typeface="Calibri"/>
              </a:rPr>
              <a:t>Common Criteria</a:t>
            </a:r>
            <a:r>
              <a:rPr sz="2000" b="0">
                <a:solidFill>
                  <a:srgbClr val="FFFFFF"/>
                </a:solidFill>
                <a:latin typeface="Calibri"/>
              </a:rPr>
              <a:t>, реалистично EAL2–3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EAL4+ из справочника — уровень ОС (Astra Linux, Windows), нам столько не надо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§4  Обоснование выбора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Главный аргумент: </a:t>
            </a:r>
            <a:r>
              <a:rPr sz="2000" b="1">
                <a:solidFill>
                  <a:srgbClr val="FFFFFF"/>
                </a:solidFill>
                <a:latin typeface="Calibri"/>
              </a:rPr>
              <a:t>данные не покидают компьютер</a:t>
            </a:r>
            <a:r>
              <a:rPr sz="2000" b="0">
                <a:solidFill>
                  <a:srgbClr val="FFFFFF"/>
                </a:solidFill>
                <a:latin typeface="Calibri"/>
              </a:rPr>
              <a:t> (сеть + файлы + localhost)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152-ФЗ:</a:t>
            </a:r>
            <a:r>
              <a:rPr sz="2000" b="0">
                <a:solidFill>
                  <a:srgbClr val="FFFFFF"/>
                </a:solidFill>
                <a:latin typeface="Calibri"/>
              </a:rPr>
              <a:t> это уже локализация — данные физически никуда не уезжают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ФСТЭК:</a:t>
            </a:r>
            <a:r>
              <a:rPr sz="2000" b="0">
                <a:solidFill>
                  <a:srgbClr val="FFFFFF"/>
                </a:solidFill>
                <a:latin typeface="Calibri"/>
              </a:rPr>
              <a:t> модель угроз проще — нет канала утечки через облако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On-premise — аргумент для клиентов, которым </a:t>
            </a:r>
            <a:r>
              <a:rPr sz="2000" b="1">
                <a:solidFill>
                  <a:srgbClr val="FFFFFF"/>
                </a:solidFill>
                <a:latin typeface="Calibri"/>
              </a:rPr>
              <a:t>запрещено облако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Порядок: </a:t>
            </a:r>
            <a:r>
              <a:rPr sz="2000" b="1">
                <a:solidFill>
                  <a:srgbClr val="FFFFFF"/>
                </a:solidFill>
                <a:latin typeface="Calibri"/>
              </a:rPr>
              <a:t>декларация</a:t>
            </a:r>
            <a:r>
              <a:rPr sz="2000" b="0">
                <a:solidFill>
                  <a:srgbClr val="FFFFFF"/>
                </a:solidFill>
                <a:latin typeface="Calibri"/>
              </a:rPr>
              <a:t> (сейчас) → </a:t>
            </a:r>
            <a:r>
              <a:rPr sz="2000" b="1">
                <a:solidFill>
                  <a:srgbClr val="FFFFFF"/>
                </a:solidFill>
                <a:latin typeface="Calibri"/>
              </a:rPr>
              <a:t>ФСТЭК</a:t>
            </a:r>
            <a:r>
              <a:rPr sz="2000" b="0">
                <a:solidFill>
                  <a:srgbClr val="FFFFFF"/>
                </a:solidFill>
                <a:latin typeface="Calibri"/>
              </a:rPr>
              <a:t> (госзаказ) → </a:t>
            </a:r>
            <a:r>
              <a:rPr sz="2000" b="1">
                <a:solidFill>
                  <a:srgbClr val="FFFFFF"/>
                </a:solidFill>
                <a:latin typeface="Calibri"/>
              </a:rPr>
              <a:t>ФСБ</a:t>
            </a:r>
            <a:r>
              <a:rPr sz="2000" b="0">
                <a:solidFill>
                  <a:srgbClr val="FFFFFF"/>
                </a:solidFill>
                <a:latin typeface="Calibri"/>
              </a:rPr>
              <a:t> (шифрование) → </a:t>
            </a:r>
            <a:r>
              <a:rPr sz="2000" b="1">
                <a:solidFill>
                  <a:srgbClr val="FFFFFF"/>
                </a:solidFill>
                <a:latin typeface="Calibri"/>
              </a:rPr>
              <a:t>CC</a:t>
            </a:r>
            <a:r>
              <a:rPr sz="2000" b="0">
                <a:solidFill>
                  <a:srgbClr val="FFFFFF"/>
                </a:solidFill>
                <a:latin typeface="Calibri"/>
              </a:rPr>
              <a:t> (Европа)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§5  Сложности и риски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828800"/>
          <a:ext cx="10881360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126480"/>
              </a:tblGrid>
              <a:tr h="762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Трудность</a:t>
                      </a:r>
                    </a:p>
                  </a:txBody>
                  <a:tcPr anchor="ctr" marL="182880" marR="182880" marT="73152" marB="73152">
                    <a:solidFill>
                      <a:srgbClr val="0E3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Как минимизировать</a:t>
                      </a:r>
                    </a:p>
                  </a:txBody>
                  <a:tcPr anchor="ctr" marL="182880" marR="182880" marT="73152" marB="73152">
                    <a:solidFill>
                      <a:srgbClr val="0E3A4A"/>
                    </a:solidFill>
                  </a:tcPr>
                </a:tc>
              </a:tr>
              <a:tr h="76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ФСТЭК: 4–6 месяцев, от сотен тысяч ₽, нужен аккредитованный орган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Делать только под конкретный госконтракт, до этого — декларация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</a:tr>
              <a:tr h="76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Common Criteria: от ~30 000 €, срок 1–2 года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Пока не делать; свой анализ угроз + аудит кода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</a:tr>
              <a:tr h="76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В стандартах нет категории «ИИ-ассистент»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Заявлять как </a:t>
                      </a:r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«ПО для обработки ПДн»</a:t>
                      </a:r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 по Приказу №21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</a:tr>
              <a:tr h="76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ФСТЭК/ФСБ требуют российское юрлицо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Оформить при старте продаж (сейчас — физлицо)</a:t>
                      </a:r>
                    </a:p>
                  </a:txBody>
                  <a:tcPr anchor="ctr" marL="182880" marR="182880" marT="73152" marB="73152">
                    <a:solidFill>
                      <a:srgbClr val="1B1B1B"/>
                    </a:solidFill>
                  </a:tcPr>
                </a:tc>
              </a:tr>
              <a:tr h="76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Не каждая лаборатория возьмёт мелкий продукт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FFFFFF"/>
                          </a:solidFill>
                          <a:latin typeface="Calibri"/>
                        </a:rPr>
                        <a:t>Лабораторию — под контракт, документы готовить заранее</a:t>
                      </a:r>
                    </a:p>
                  </a:txBody>
                  <a:tcPr anchor="ctr" marL="182880" marR="182880" marT="73152" marB="73152"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Чистая ГОС-версия (задел под сертификацию)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Отдельная сборка </a:t>
            </a:r>
            <a:r>
              <a:rPr sz="2000" b="1">
                <a:solidFill>
                  <a:srgbClr val="FFFFFF"/>
                </a:solidFill>
                <a:latin typeface="Calibri"/>
              </a:rPr>
              <a:t>v1.5-gov-release</a:t>
            </a:r>
            <a:r>
              <a:rPr sz="2000" b="0">
                <a:solidFill>
                  <a:srgbClr val="FFFFFF"/>
                </a:solidFill>
                <a:latin typeface="Calibri"/>
              </a:rPr>
              <a:t> — «чистая» версия для госзаказчика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Агрессивный режим </a:t>
            </a:r>
            <a:r>
              <a:rPr sz="2000" b="1">
                <a:solidFill>
                  <a:srgbClr val="FFFFFF"/>
                </a:solidFill>
                <a:latin typeface="Calibri"/>
              </a:rPr>
              <a:t>выпилен полностью</a:t>
            </a:r>
            <a:r>
              <a:rPr sz="2000" b="0">
                <a:solidFill>
                  <a:srgbClr val="FFFFFF"/>
                </a:solidFill>
                <a:latin typeface="Calibri"/>
              </a:rPr>
              <a:t> (в обычной версии — за 18+)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1">
                <a:solidFill>
                  <a:srgbClr val="FFFFFF"/>
                </a:solidFill>
                <a:latin typeface="Calibri"/>
              </a:rPr>
              <a:t>Фильтр мата</a:t>
            </a:r>
            <a:r>
              <a:rPr sz="2000" b="0">
                <a:solidFill>
                  <a:srgbClr val="FFFFFF"/>
                </a:solidFill>
                <a:latin typeface="Calibri"/>
              </a:rPr>
              <a:t> на выходе + данные только локально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Что готова показать проверяющим: локальность, журналы, отсутствие облака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000">
                <a:solidFill>
                  <a:srgbClr val="96C8D2"/>
                </a:solidFill>
                <a:latin typeface="Calibri"/>
              </a:rPr>
              <a:t>—  </a:t>
            </a:r>
            <a:r>
              <a:rPr sz="2000" b="0">
                <a:solidFill>
                  <a:srgbClr val="FFFFFF"/>
                </a:solidFill>
                <a:latin typeface="Calibri"/>
              </a:rPr>
              <a:t>Дорожная карта: </a:t>
            </a:r>
            <a:r>
              <a:rPr sz="2000" b="1">
                <a:solidFill>
                  <a:srgbClr val="FFFFFF"/>
                </a:solidFill>
                <a:latin typeface="Calibri"/>
              </a:rPr>
              <a:t>декларация → ФСТЭК → ФСБ → 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Выводы и контакты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Итог: что выбрано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96C8D2"/>
                </a:solidFill>
                <a:latin typeface="Calibri"/>
              </a:rPr>
              <a:t>—  </a:t>
            </a:r>
            <a:r>
              <a:rPr sz="1900" b="0">
                <a:solidFill>
                  <a:srgbClr val="FFFFFF"/>
                </a:solidFill>
                <a:latin typeface="Calibri"/>
              </a:rPr>
              <a:t>Для старта достаточно </a:t>
            </a:r>
            <a:r>
              <a:rPr sz="1900" b="1">
                <a:solidFill>
                  <a:srgbClr val="FFFFFF"/>
                </a:solidFill>
                <a:latin typeface="Calibri"/>
              </a:rPr>
              <a:t>декларации соответствия (152-ФЗ)</a:t>
            </a:r>
            <a:r>
              <a:rPr sz="1900" b="0">
                <a:solidFill>
                  <a:srgbClr val="FFFFFF"/>
                </a:solidFill>
                <a:latin typeface="Calibri"/>
              </a:rPr>
              <a:t> — обязательная сертификация не нужна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96C8D2"/>
                </a:solidFill>
                <a:latin typeface="Calibri"/>
              </a:rPr>
              <a:t>—  </a:t>
            </a:r>
            <a:r>
              <a:rPr sz="1900" b="0">
                <a:solidFill>
                  <a:srgbClr val="FFFFFF"/>
                </a:solidFill>
                <a:latin typeface="Calibri"/>
              </a:rPr>
              <a:t>Под госзаказ — сертификация </a:t>
            </a:r>
            <a:r>
              <a:rPr sz="1900" b="1">
                <a:solidFill>
                  <a:srgbClr val="FFFFFF"/>
                </a:solidFill>
                <a:latin typeface="Calibri"/>
              </a:rPr>
              <a:t>ФСТЭК по Приказу №21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96C8D2"/>
                </a:solidFill>
                <a:latin typeface="Calibri"/>
              </a:rPr>
              <a:t>—  </a:t>
            </a:r>
            <a:r>
              <a:rPr sz="1900" b="0">
                <a:solidFill>
                  <a:srgbClr val="FFFFFF"/>
                </a:solidFill>
                <a:latin typeface="Calibri"/>
              </a:rPr>
              <a:t>Шифрование — только через готовый сертифицированный модуль (</a:t>
            </a:r>
            <a:r>
              <a:rPr sz="1900" b="1">
                <a:solidFill>
                  <a:srgbClr val="FFFFFF"/>
                </a:solidFill>
                <a:latin typeface="Calibri"/>
              </a:rPr>
              <a:t>ФСБ</a:t>
            </a:r>
            <a:r>
              <a:rPr sz="1900" b="0">
                <a:solidFill>
                  <a:srgbClr val="FFFFFF"/>
                </a:solidFill>
                <a:latin typeface="Calibri"/>
              </a:rPr>
              <a:t>, например Крипто ПРО CSP)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96C8D2"/>
                </a:solidFill>
                <a:latin typeface="Calibri"/>
              </a:rPr>
              <a:t>—  </a:t>
            </a:r>
            <a:r>
              <a:rPr sz="1900" b="0">
                <a:solidFill>
                  <a:srgbClr val="FFFFFF"/>
                </a:solidFill>
                <a:latin typeface="Calibri"/>
              </a:rPr>
              <a:t>Для Европы в будущем — </a:t>
            </a:r>
            <a:r>
              <a:rPr sz="1900" b="1">
                <a:solidFill>
                  <a:srgbClr val="FFFFFF"/>
                </a:solidFill>
                <a:latin typeface="Calibri"/>
              </a:rPr>
              <a:t>Common Criteria от EAL2+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Контакты: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96C8D2"/>
                </a:solidFill>
                <a:latin typeface="Calibri"/>
              </a:rPr>
              <a:t>—  </a:t>
            </a:r>
            <a:r>
              <a:rPr sz="1900" b="0">
                <a:solidFill>
                  <a:srgbClr val="FFFFFF"/>
                </a:solidFill>
                <a:latin typeface="Calibri"/>
              </a:rPr>
              <a:t>GitHub: </a:t>
            </a:r>
            <a:r>
              <a:rPr sz="1900" b="1">
                <a:solidFill>
                  <a:srgbClr val="FFFFFF"/>
                </a:solidFill>
                <a:latin typeface="Calibri"/>
              </a:rPr>
              <a:t>github.com/fedomirka-droid/F.E.D.O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900">
                <a:solidFill>
                  <a:srgbClr val="96C8D2"/>
                </a:solidFill>
                <a:latin typeface="Calibri"/>
              </a:rPr>
              <a:t>—  </a:t>
            </a:r>
            <a:r>
              <a:rPr sz="1900" b="0">
                <a:solidFill>
                  <a:srgbClr val="FFFFFF"/>
                </a:solidFill>
                <a:latin typeface="Calibri"/>
              </a:rPr>
              <a:t>Telegram: </a:t>
            </a:r>
            <a:r>
              <a:rPr sz="1900" b="1">
                <a:solidFill>
                  <a:srgbClr val="FFFFFF"/>
                </a:solidFill>
                <a:latin typeface="Calibri"/>
              </a:rPr>
              <a:t>t.me/fedo_project</a:t>
            </a:r>
          </a:p>
        </p:txBody>
      </p:sp>
      <p:pic>
        <p:nvPicPr>
          <p:cNvPr id="4" name="Picture 3" descr="fedo_qr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377440"/>
            <a:ext cx="1737360" cy="1737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4251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6C8D2"/>
                </a:solidFill>
                <a:latin typeface="Calibri"/>
              </a:rPr>
              <a:t>t.me/fedo_project</a:t>
            </a:r>
          </a:p>
        </p:txBody>
      </p:sp>
      <p:pic>
        <p:nvPicPr>
          <p:cNvPr id="6" name="Picture 5" descr="fedo_q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237744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46919" y="4251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96C8D2"/>
                </a:solidFill>
                <a:latin typeface="Calibri"/>
              </a:rPr>
              <a:t>github.com/fedomirka-droid/F.E.D.O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512064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  <a:latin typeface="Calibri"/>
              </a:rPr>
              <a:t>F.E.D.O. • Какую схему сертификации выбрать •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